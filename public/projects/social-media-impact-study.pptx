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3" autoAdjust="0"/>
    <p:restoredTop sz="94610"/>
  </p:normalViewPr>
  <p:slideViewPr>
    <p:cSldViewPr snapToGrid="0" snapToObjects="1">
      <p:cViewPr>
        <p:scale>
          <a:sx n="120" d="100"/>
          <a:sy n="120" d="100"/>
        </p:scale>
        <p:origin x="96" y="-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598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 w="12700">
            <a:solidFill>
              <a:srgbClr val="0709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5448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19456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83464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19061" y="237744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39496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3504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67512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95528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59536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23544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87552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51560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15568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79576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82880" y="27432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82880" y="82296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82880" y="137160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82880" y="192024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82880" y="246888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82880" y="301752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82880" y="356616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82880" y="411480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82880" y="466344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82880" y="521208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82880" y="576072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82880" y="630936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82880" y="685800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94360" y="594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22D3EE"/>
                </a:solidFill>
              </a:rPr>
              <a:t>DATA SCIENCE PROJECT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594360" y="987552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Social Media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Impact Study</a:t>
            </a:r>
            <a:endParaRPr lang="en-US" sz="4400" dirty="0"/>
          </a:p>
        </p:txBody>
      </p:sp>
      <p:sp>
        <p:nvSpPr>
          <p:cNvPr id="37" name="Text 35"/>
          <p:cNvSpPr/>
          <p:nvPr/>
        </p:nvSpPr>
        <p:spPr>
          <a:xfrm>
            <a:off x="612648" y="2615184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1A1AA"/>
                </a:solidFill>
              </a:rPr>
              <a:t>Teens, students, mental health, addiction, academic performance &amp; suicide trend correlations.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21792" y="58247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717A"/>
                </a:solidFill>
              </a:rPr>
              <a:t>El Mehdi Bensouda 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360920" y="978408"/>
            <a:ext cx="1143000" cy="1005840"/>
          </a:xfrm>
          <a:prstGeom prst="roundRect">
            <a:avLst>
              <a:gd name="adj" fmla="val 11818"/>
            </a:avLst>
          </a:prstGeom>
          <a:solidFill>
            <a:srgbClr val="0A0F1E">
              <a:alpha val="94000"/>
            </a:srgbClr>
          </a:solidFill>
          <a:ln w="11430">
            <a:solidFill>
              <a:srgbClr val="22D3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562088" y="1133856"/>
            <a:ext cx="74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D3EE"/>
                </a:solidFill>
              </a:rPr>
              <a:t>3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7516368" y="1645920"/>
            <a:ext cx="83210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A1A1AA"/>
                </a:solidFill>
              </a:rPr>
              <a:t>datasets analyzed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8732520" y="978408"/>
            <a:ext cx="1508760" cy="1005840"/>
          </a:xfrm>
          <a:prstGeom prst="roundRect">
            <a:avLst>
              <a:gd name="adj" fmla="val 11818"/>
            </a:avLst>
          </a:prstGeom>
          <a:solidFill>
            <a:srgbClr val="0A0F1E">
              <a:alpha val="94000"/>
            </a:srgbClr>
          </a:solidFill>
          <a:ln w="11430">
            <a:solidFill>
              <a:srgbClr val="60A5F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933688" y="1133856"/>
            <a:ext cx="1106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0A5FA"/>
                </a:solidFill>
              </a:rPr>
              <a:t>EDA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8887968" y="1645920"/>
            <a:ext cx="119786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A1A1AA"/>
                </a:solidFill>
              </a:rPr>
              <a:t>correlations, heatmaps &amp; boxplots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0469880" y="978408"/>
            <a:ext cx="1143000" cy="1005840"/>
          </a:xfrm>
          <a:prstGeom prst="roundRect">
            <a:avLst>
              <a:gd name="adj" fmla="val 11818"/>
            </a:avLst>
          </a:prstGeom>
          <a:solidFill>
            <a:srgbClr val="0A0F1E">
              <a:alpha val="94000"/>
            </a:srgbClr>
          </a:solidFill>
          <a:ln w="11430">
            <a:solidFill>
              <a:srgbClr val="8B5C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0671048" y="1133856"/>
            <a:ext cx="74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5CF6"/>
                </a:solidFill>
              </a:rPr>
              <a:t>ML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10625328" y="1645920"/>
            <a:ext cx="83210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A1A1AA"/>
                </a:solidFill>
              </a:rPr>
              <a:t>logistic regression model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360920" y="2331720"/>
            <a:ext cx="4251960" cy="2788920"/>
          </a:xfrm>
          <a:prstGeom prst="roundRect">
            <a:avLst>
              <a:gd name="adj" fmla="val 4262"/>
            </a:avLst>
          </a:prstGeom>
          <a:solidFill>
            <a:srgbClr val="0B1020">
              <a:alpha val="98000"/>
            </a:srgbClr>
          </a:solidFill>
          <a:ln w="11430">
            <a:solidFill>
              <a:srgbClr val="243244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635240" y="26426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</a:rPr>
              <a:t>Core question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635240" y="3063240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How does social media usage relate to mental health, suicide trends, and academic outcomes?</a:t>
            </a:r>
            <a:endParaRPr lang="en-US" sz="2000" dirty="0"/>
          </a:p>
        </p:txBody>
      </p:sp>
      <p:sp>
        <p:nvSpPr>
          <p:cNvPr id="51" name="Shape 49"/>
          <p:cNvSpPr/>
          <p:nvPr/>
        </p:nvSpPr>
        <p:spPr>
          <a:xfrm>
            <a:off x="7635240" y="4544568"/>
            <a:ext cx="1143000" cy="292608"/>
          </a:xfrm>
          <a:prstGeom prst="roundRect">
            <a:avLst>
              <a:gd name="adj" fmla="val 31250"/>
            </a:avLst>
          </a:prstGeom>
          <a:solidFill>
            <a:srgbClr val="22D3EE">
              <a:alpha val="13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635240" y="459943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22D3EE"/>
                </a:solidFill>
              </a:rPr>
              <a:t>MENTAL HEALTH</a:t>
            </a:r>
            <a:endParaRPr lang="en-US" sz="670" dirty="0"/>
          </a:p>
        </p:txBody>
      </p:sp>
      <p:sp>
        <p:nvSpPr>
          <p:cNvPr id="53" name="Shape 51"/>
          <p:cNvSpPr/>
          <p:nvPr/>
        </p:nvSpPr>
        <p:spPr>
          <a:xfrm>
            <a:off x="8979408" y="4544568"/>
            <a:ext cx="932688" cy="292608"/>
          </a:xfrm>
          <a:prstGeom prst="roundRect">
            <a:avLst>
              <a:gd name="adj" fmla="val 31250"/>
            </a:avLst>
          </a:prstGeom>
          <a:solidFill>
            <a:srgbClr val="60A5FA">
              <a:alpha val="13000"/>
            </a:srgbClr>
          </a:solidFill>
          <a:ln w="12700">
            <a:solidFill>
              <a:srgbClr val="60A5F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979408" y="4599432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60A5FA"/>
                </a:solidFill>
              </a:rPr>
              <a:t>ACADEMICS</a:t>
            </a:r>
            <a:endParaRPr lang="en-US" sz="670" dirty="0"/>
          </a:p>
        </p:txBody>
      </p:sp>
      <p:sp>
        <p:nvSpPr>
          <p:cNvPr id="55" name="Shape 53"/>
          <p:cNvSpPr/>
          <p:nvPr/>
        </p:nvSpPr>
        <p:spPr>
          <a:xfrm>
            <a:off x="10104120" y="4544568"/>
            <a:ext cx="987552" cy="292608"/>
          </a:xfrm>
          <a:prstGeom prst="roundRect">
            <a:avLst>
              <a:gd name="adj" fmla="val 31250"/>
            </a:avLst>
          </a:prstGeom>
          <a:solidFill>
            <a:srgbClr val="8B5CF6">
              <a:alpha val="13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0104120" y="4599432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8B5CF6"/>
                </a:solidFill>
              </a:rPr>
              <a:t>ADDICTION</a:t>
            </a:r>
            <a:endParaRPr lang="en-US" sz="670" dirty="0"/>
          </a:p>
        </p:txBody>
      </p:sp>
      <p:sp>
        <p:nvSpPr>
          <p:cNvPr id="57" name="Text 55"/>
          <p:cNvSpPr/>
          <p:nvPr/>
        </p:nvSpPr>
        <p:spPr>
          <a:xfrm>
            <a:off x="502920" y="3200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OVERVIEW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11064240" y="265176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1F293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02920" y="6565392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1717A"/>
                </a:solidFill>
              </a:rPr>
              <a:t>Social Media Impact Study 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 w="12700">
            <a:solidFill>
              <a:srgbClr val="0709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5448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19456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83464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39496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3504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67512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95528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59536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23544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87552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51560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15568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79576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82880" y="27432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82880" y="82296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82880" y="137160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82880" y="192024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82880" y="246888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82880" y="301752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82880" y="356616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82880" y="411480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82880" y="466344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82880" y="521208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82880" y="576072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82880" y="630936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82880" y="685800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2920" y="71323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raw data to insight.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502920" y="1408176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A1A1AA"/>
                </a:solidFill>
              </a:rPr>
              <a:t>The project combines national trend data, teen phone-addiction data, and student social-media-addiction data.</a:t>
            </a:r>
            <a:endParaRPr lang="en-US" sz="1220" dirty="0"/>
          </a:p>
        </p:txBody>
      </p:sp>
      <p:sp>
        <p:nvSpPr>
          <p:cNvPr id="37" name="Shape 35"/>
          <p:cNvSpPr/>
          <p:nvPr/>
        </p:nvSpPr>
        <p:spPr>
          <a:xfrm>
            <a:off x="685800" y="2880360"/>
            <a:ext cx="3246120" cy="1874520"/>
          </a:xfrm>
          <a:prstGeom prst="roundRect">
            <a:avLst>
              <a:gd name="adj" fmla="val 6341"/>
            </a:avLst>
          </a:prstGeom>
          <a:solidFill>
            <a:srgbClr val="0D1016"/>
          </a:solidFill>
          <a:ln w="11430">
            <a:solidFill>
              <a:srgbClr val="22D3E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14400" y="31272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</a:rPr>
              <a:t>01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14400" y="345643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Collect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914400" y="39776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1A1AA"/>
                </a:solidFill>
              </a:rPr>
              <a:t>Three separate datasets on suicide trends, teens, and students.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434840" y="2880360"/>
            <a:ext cx="3246120" cy="1874520"/>
          </a:xfrm>
          <a:prstGeom prst="roundRect">
            <a:avLst>
              <a:gd name="adj" fmla="val 6341"/>
            </a:avLst>
          </a:prstGeom>
          <a:solidFill>
            <a:srgbClr val="0D1016"/>
          </a:solidFill>
          <a:ln w="11430">
            <a:solidFill>
              <a:srgbClr val="60A5F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663440" y="31272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</a:rPr>
              <a:t>02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663440" y="345643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Explore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4663440" y="39776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1A1AA"/>
                </a:solidFill>
              </a:rPr>
              <a:t>EDA, correlation matrices, distributions, boxplots, and comparisons.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183880" y="2880360"/>
            <a:ext cx="3246120" cy="1874520"/>
          </a:xfrm>
          <a:prstGeom prst="roundRect">
            <a:avLst>
              <a:gd name="adj" fmla="val 6341"/>
            </a:avLst>
          </a:prstGeom>
          <a:solidFill>
            <a:srgbClr val="0D1016"/>
          </a:solidFill>
          <a:ln w="11430">
            <a:solidFill>
              <a:srgbClr val="8B5CF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412480" y="31272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</a:rPr>
              <a:t>03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412480" y="345643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Model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8412480" y="39776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1A1AA"/>
                </a:solidFill>
              </a:rPr>
              <a:t>Logistic regression predicts whether social media affects academics.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502920" y="3200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11064240" y="265176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1F293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02920" y="6565392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1717A"/>
                </a:solidFill>
              </a:rPr>
              <a:t>Social Media Impact Study 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42" y="73152"/>
            <a:ext cx="12191695" cy="6858000"/>
          </a:xfrm>
          <a:prstGeom prst="rect">
            <a:avLst/>
          </a:prstGeom>
          <a:solidFill>
            <a:srgbClr val="07090D"/>
          </a:solidFill>
          <a:ln w="12700">
            <a:solidFill>
              <a:srgbClr val="0709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analysis connects three perspectives.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4908" y="1732788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A1A1AA"/>
                </a:solidFill>
              </a:rPr>
              <a:t>Each dataset answers a different part of the same social-media impact question.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685800" y="2029968"/>
            <a:ext cx="10972800" cy="804672"/>
          </a:xfrm>
          <a:prstGeom prst="roundRect">
            <a:avLst>
              <a:gd name="adj" fmla="val 14773"/>
            </a:avLst>
          </a:prstGeom>
          <a:solidFill>
            <a:srgbClr val="0D1016"/>
          </a:solidFill>
          <a:ln w="11430">
            <a:solidFill>
              <a:srgbClr val="22D3EE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41832" y="232217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National trend data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730752" y="232217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1A1AA"/>
                </a:solidFill>
              </a:rPr>
              <a:t>Social media growth vs suicide-rate change since 2010.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3015234"/>
            <a:ext cx="10972800" cy="804672"/>
          </a:xfrm>
          <a:prstGeom prst="roundRect">
            <a:avLst>
              <a:gd name="adj" fmla="val 14773"/>
            </a:avLst>
          </a:prstGeom>
          <a:solidFill>
            <a:srgbClr val="0D1016"/>
          </a:solidFill>
          <a:ln w="11430">
            <a:solidFill>
              <a:srgbClr val="60A5FA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41832" y="327583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Teen phone addiction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76472" y="327583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1A1AA"/>
                </a:solidFill>
              </a:rPr>
              <a:t>Usage hours, addiction level, sleep, anxiety, depression, and academics.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4013818"/>
            <a:ext cx="10972800" cy="804672"/>
          </a:xfrm>
          <a:prstGeom prst="roundRect">
            <a:avLst>
              <a:gd name="adj" fmla="val 14773"/>
            </a:avLst>
          </a:prstGeom>
          <a:solidFill>
            <a:srgbClr val="0D1016"/>
          </a:solidFill>
          <a:ln w="11430">
            <a:solidFill>
              <a:srgbClr val="8B5CF6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41832" y="42455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Student addiction data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78460" y="42455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1A1AA"/>
                </a:solidFill>
              </a:rPr>
              <a:t>Daily use, addiction score, mental health, sleep, conflicts, and academic impact.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58952" y="5074522"/>
            <a:ext cx="2011680" cy="685800"/>
          </a:xfrm>
          <a:prstGeom prst="roundRect">
            <a:avLst>
              <a:gd name="adj" fmla="val 17333"/>
            </a:avLst>
          </a:prstGeom>
          <a:solidFill>
            <a:srgbClr val="0A0F1E">
              <a:alpha val="94000"/>
            </a:srgbClr>
          </a:solidFill>
          <a:ln w="11430">
            <a:solidFill>
              <a:srgbClr val="22D3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25115" y="5187332"/>
            <a:ext cx="1609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D3EE"/>
                </a:solidFill>
              </a:rPr>
              <a:t>mental health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79395" y="5851761"/>
            <a:ext cx="1700784" cy="36615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A1A1AA"/>
                </a:solidFill>
              </a:rPr>
              <a:t>anxiety, depression, wellbeing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01387" y="5075020"/>
            <a:ext cx="2286000" cy="685800"/>
          </a:xfrm>
          <a:prstGeom prst="roundRect">
            <a:avLst>
              <a:gd name="adj" fmla="val 17333"/>
            </a:avLst>
          </a:prstGeom>
          <a:solidFill>
            <a:srgbClr val="0A0F1E">
              <a:alpha val="94000"/>
            </a:srgbClr>
          </a:solidFill>
          <a:ln w="11430">
            <a:solidFill>
              <a:srgbClr val="60A5F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02555" y="518733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0A5FA"/>
                </a:solidFill>
              </a:rPr>
              <a:t>academics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256816" y="5783580"/>
            <a:ext cx="1975104" cy="43880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A1A1AA"/>
                </a:solidFill>
              </a:rPr>
              <a:t>performance &amp; self-reported impact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718142" y="5092809"/>
            <a:ext cx="2240280" cy="685800"/>
          </a:xfrm>
          <a:prstGeom prst="roundRect">
            <a:avLst>
              <a:gd name="adj" fmla="val 17333"/>
            </a:avLst>
          </a:prstGeom>
          <a:solidFill>
            <a:srgbClr val="0A0F1E">
              <a:alpha val="94000"/>
            </a:srgbClr>
          </a:solidFill>
          <a:ln w="11430">
            <a:solidFill>
              <a:srgbClr val="8B5C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19310" y="5217446"/>
            <a:ext cx="1837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5CF6"/>
                </a:solidFill>
              </a:rPr>
              <a:t>behavior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827870" y="5753563"/>
            <a:ext cx="1929384" cy="46156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A1A1AA"/>
                </a:solidFill>
              </a:rPr>
              <a:t>usage hours, addiction, sleep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352787" y="5095989"/>
            <a:ext cx="2423160" cy="685800"/>
          </a:xfrm>
          <a:prstGeom prst="roundRect">
            <a:avLst>
              <a:gd name="adj" fmla="val 17333"/>
            </a:avLst>
          </a:prstGeom>
          <a:solidFill>
            <a:srgbClr val="0A0F1E">
              <a:alpha val="94000"/>
            </a:srgbClr>
          </a:solidFill>
          <a:ln w="11430">
            <a:solidFill>
              <a:srgbClr val="34D399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553955" y="5225995"/>
            <a:ext cx="2020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4D399"/>
                </a:solidFill>
              </a:rPr>
              <a:t>trend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553955" y="5737608"/>
            <a:ext cx="2112264" cy="530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A1A1AA"/>
                </a:solidFill>
              </a:rPr>
              <a:t>national suicide-rate correlation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2920" y="3200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OVERVIEW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064240" y="265176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1F293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" y="6565392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1717A"/>
                </a:solidFill>
              </a:rPr>
              <a:t>Social Media Impact Study 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 w="12700">
            <a:solidFill>
              <a:srgbClr val="07090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National trend correlations were inverse.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408176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A1A1AA"/>
                </a:solidFill>
              </a:rPr>
              <a:t>Higher social-media user growth was associated with lower suicide-rate change in this dataset.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5394960" cy="35661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1430">
            <a:solidFill>
              <a:srgbClr val="334155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extracted_ppt_images/slide08_im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772" y="1947672"/>
            <a:ext cx="4367016" cy="3154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512978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334155"/>
                </a:solidFill>
              </a:rPr>
              <a:t>Correlation matrix from the suicide-trend dataset</a:t>
            </a:r>
            <a:endParaRPr lang="en-US" sz="780" dirty="0"/>
          </a:p>
        </p:txBody>
      </p:sp>
      <p:sp>
        <p:nvSpPr>
          <p:cNvPr id="8" name="Shape 5"/>
          <p:cNvSpPr/>
          <p:nvPr/>
        </p:nvSpPr>
        <p:spPr>
          <a:xfrm>
            <a:off x="6446520" y="1901952"/>
            <a:ext cx="2103120" cy="1005840"/>
          </a:xfrm>
          <a:prstGeom prst="roundRect">
            <a:avLst>
              <a:gd name="adj" fmla="val 11818"/>
            </a:avLst>
          </a:prstGeom>
          <a:solidFill>
            <a:srgbClr val="0A0F1E">
              <a:alpha val="94000"/>
            </a:srgbClr>
          </a:solidFill>
          <a:ln w="11430">
            <a:solidFill>
              <a:srgbClr val="22D3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47688" y="205740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D3EE"/>
                </a:solidFill>
              </a:rPr>
              <a:t>-0.97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601968" y="2569464"/>
            <a:ext cx="179222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A1A1AA"/>
                </a:solidFill>
              </a:rPr>
              <a:t>Facebook growth vs suicide-rate change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823960" y="1901952"/>
            <a:ext cx="2103120" cy="1005840"/>
          </a:xfrm>
          <a:prstGeom prst="roundRect">
            <a:avLst>
              <a:gd name="adj" fmla="val 11818"/>
            </a:avLst>
          </a:prstGeom>
          <a:solidFill>
            <a:srgbClr val="0A0F1E">
              <a:alpha val="94000"/>
            </a:srgbClr>
          </a:solidFill>
          <a:ln w="11430">
            <a:solidFill>
              <a:srgbClr val="60A5F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025128" y="205740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0A5FA"/>
                </a:solidFill>
              </a:rPr>
              <a:t>-0.85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979408" y="2569464"/>
            <a:ext cx="179222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A1A1AA"/>
                </a:solidFill>
              </a:rPr>
              <a:t>Twitter growth vs suicide-rate change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446520" y="3429000"/>
            <a:ext cx="0" cy="804672"/>
          </a:xfrm>
          <a:prstGeom prst="line">
            <a:avLst/>
          </a:prstGeom>
          <a:noFill/>
          <a:ln w="3302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647688" y="3429000"/>
            <a:ext cx="4370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1A1AA"/>
                </a:solidFill>
              </a:rPr>
              <a:t>Important interpretation: correlation does not prove causation. This finding only describes the pattern visible in the dataset.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492240" y="4617720"/>
            <a:ext cx="44805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Why this matters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The national trend shows a clear pattern, but it does not explain what happens at the individual level.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Next, we examine teen and student data to explore social media use, addiction, mental health, and academic performance.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502920" y="3200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 1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064240" y="265176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1F293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02920" y="6565392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1717A"/>
                </a:solidFill>
              </a:rPr>
              <a:t>Social Media Impact Study 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 w="12700">
            <a:solidFill>
              <a:srgbClr val="0709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Platform growth rose sharply after 2010.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408176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A1A1AA"/>
                </a:solidFill>
              </a:rPr>
              <a:t>Male and female user-count growth shows similar upward patterns across Twitter and Facebook.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2788920" cy="1874520"/>
          </a:xfrm>
          <a:prstGeom prst="roundRect">
            <a:avLst>
              <a:gd name="adj" fmla="val 6341"/>
            </a:avLst>
          </a:prstGeom>
          <a:solidFill>
            <a:srgbClr val="FFFFFF"/>
          </a:solidFill>
          <a:ln w="11430">
            <a:solidFill>
              <a:srgbClr val="334155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extracted_ppt_images/slide06_im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259" y="1856232"/>
            <a:ext cx="2465122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34670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334155"/>
                </a:solidFill>
              </a:rPr>
              <a:t>Twitter — male</a:t>
            </a:r>
            <a:endParaRPr lang="en-US" sz="780" dirty="0"/>
          </a:p>
        </p:txBody>
      </p:sp>
      <p:sp>
        <p:nvSpPr>
          <p:cNvPr id="8" name="Shape 5"/>
          <p:cNvSpPr/>
          <p:nvPr/>
        </p:nvSpPr>
        <p:spPr>
          <a:xfrm>
            <a:off x="3611880" y="1783080"/>
            <a:ext cx="2788920" cy="1874520"/>
          </a:xfrm>
          <a:prstGeom prst="roundRect">
            <a:avLst>
              <a:gd name="adj" fmla="val 6341"/>
            </a:avLst>
          </a:prstGeom>
          <a:solidFill>
            <a:srgbClr val="FFFFFF"/>
          </a:solidFill>
          <a:ln w="11430">
            <a:solidFill>
              <a:srgbClr val="334155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/mnt/data/extracted_ppt_images/slide06_img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779" y="1856232"/>
            <a:ext cx="2465122" cy="1463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94760" y="334670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334155"/>
                </a:solidFill>
              </a:rPr>
              <a:t>Twitter — female</a:t>
            </a:r>
            <a:endParaRPr lang="en-US" sz="780" dirty="0"/>
          </a:p>
        </p:txBody>
      </p:sp>
      <p:sp>
        <p:nvSpPr>
          <p:cNvPr id="11" name="Shape 7"/>
          <p:cNvSpPr/>
          <p:nvPr/>
        </p:nvSpPr>
        <p:spPr>
          <a:xfrm>
            <a:off x="6629400" y="1783080"/>
            <a:ext cx="2788920" cy="1874520"/>
          </a:xfrm>
          <a:prstGeom prst="roundRect">
            <a:avLst>
              <a:gd name="adj" fmla="val 6341"/>
            </a:avLst>
          </a:prstGeom>
          <a:solidFill>
            <a:srgbClr val="FFFFFF"/>
          </a:solidFill>
          <a:ln w="11430">
            <a:solidFill>
              <a:srgbClr val="334155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/mnt/data/extracted_ppt_images/slide07_img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1299" y="1856232"/>
            <a:ext cx="2465122" cy="1463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12280" y="334670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334155"/>
                </a:solidFill>
              </a:rPr>
              <a:t>Facebook — male</a:t>
            </a:r>
            <a:endParaRPr lang="en-US" sz="780" dirty="0"/>
          </a:p>
        </p:txBody>
      </p:sp>
      <p:sp>
        <p:nvSpPr>
          <p:cNvPr id="14" name="Shape 9"/>
          <p:cNvSpPr/>
          <p:nvPr/>
        </p:nvSpPr>
        <p:spPr>
          <a:xfrm>
            <a:off x="9646920" y="1783080"/>
            <a:ext cx="2057400" cy="1874520"/>
          </a:xfrm>
          <a:prstGeom prst="roundRect">
            <a:avLst>
              <a:gd name="adj" fmla="val 6341"/>
            </a:avLst>
          </a:prstGeom>
          <a:solidFill>
            <a:srgbClr val="FFFFFF"/>
          </a:solidFill>
          <a:ln w="11430">
            <a:solidFill>
              <a:srgbClr val="334155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3" descr="/mnt/data/extracted_ppt_images/slide07_img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0072" y="2020638"/>
            <a:ext cx="1911096" cy="113422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829800" y="334670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334155"/>
                </a:solidFill>
              </a:rPr>
              <a:t>Facebook — female</a:t>
            </a:r>
            <a:endParaRPr lang="en-US" sz="780" dirty="0"/>
          </a:p>
        </p:txBody>
      </p:sp>
      <p:sp>
        <p:nvSpPr>
          <p:cNvPr id="17" name="Shape 11"/>
          <p:cNvSpPr/>
          <p:nvPr/>
        </p:nvSpPr>
        <p:spPr>
          <a:xfrm>
            <a:off x="749808" y="4160520"/>
            <a:ext cx="10698480" cy="1325880"/>
          </a:xfrm>
          <a:prstGeom prst="roundRect">
            <a:avLst>
              <a:gd name="adj" fmla="val 8966"/>
            </a:avLst>
          </a:prstGeom>
          <a:solidFill>
            <a:srgbClr val="0D1016">
              <a:alpha val="97000"/>
            </a:srgbClr>
          </a:solidFill>
          <a:ln w="11430">
            <a:solidFill>
              <a:srgbClr val="243244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1051560" y="4425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Why this matters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3337560" y="4370832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A1A1AA"/>
                </a:solidFill>
              </a:rPr>
              <a:t>The national data shows major social-media adoption growth, but it cannot explain individual outcomes by itself. That is why the teen and student datasets are necessary.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502920" y="3200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GROWTH</a:t>
            </a:r>
            <a:endParaRPr lang="en-US" sz="750" dirty="0"/>
          </a:p>
        </p:txBody>
      </p:sp>
      <p:sp>
        <p:nvSpPr>
          <p:cNvPr id="21" name="Text 15"/>
          <p:cNvSpPr/>
          <p:nvPr/>
        </p:nvSpPr>
        <p:spPr>
          <a:xfrm>
            <a:off x="11064240" y="265176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1F293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502920" y="6565392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1717A"/>
                </a:solidFill>
              </a:rPr>
              <a:t>Social Media Impact Study 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 w="12700">
            <a:solidFill>
              <a:srgbClr val="0709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teens, usage connects most clearly to addiction.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408176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A1A1AA"/>
                </a:solidFill>
              </a:rPr>
              <a:t>Daily usage hours showed the strongest relationship with addiction level; academic performance was less directly connected.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5943600" cy="4480560"/>
          </a:xfrm>
          <a:prstGeom prst="roundRect">
            <a:avLst>
              <a:gd name="adj" fmla="val 2653"/>
            </a:avLst>
          </a:prstGeom>
          <a:solidFill>
            <a:srgbClr val="FFFFFF"/>
          </a:solidFill>
          <a:ln w="11430">
            <a:solidFill>
              <a:srgbClr val="334155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extracted_ppt_images/slide13_im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25" y="1856232"/>
            <a:ext cx="508635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5952744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334155"/>
                </a:solidFill>
              </a:rPr>
              <a:t>Teen dataset correlation heatmap</a:t>
            </a:r>
            <a:endParaRPr lang="en-US" sz="780" dirty="0"/>
          </a:p>
        </p:txBody>
      </p:sp>
      <p:sp>
        <p:nvSpPr>
          <p:cNvPr id="8" name="Shape 5"/>
          <p:cNvSpPr/>
          <p:nvPr/>
        </p:nvSpPr>
        <p:spPr>
          <a:xfrm>
            <a:off x="7059168" y="1847088"/>
            <a:ext cx="1828800" cy="914400"/>
          </a:xfrm>
          <a:prstGeom prst="roundRect">
            <a:avLst>
              <a:gd name="adj" fmla="val 13000"/>
            </a:avLst>
          </a:prstGeom>
          <a:solidFill>
            <a:srgbClr val="0A0F1E">
              <a:alpha val="94000"/>
            </a:srgbClr>
          </a:solidFill>
          <a:ln w="11430">
            <a:solidFill>
              <a:srgbClr val="22D3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260336" y="2002536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D3EE"/>
                </a:solidFill>
              </a:rPr>
              <a:t>0.60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214616" y="2514600"/>
            <a:ext cx="151790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A1A1AA"/>
                </a:solidFill>
              </a:rPr>
              <a:t>Daily usage hours ↔ addiction level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9189720" y="1847088"/>
            <a:ext cx="1828800" cy="914400"/>
          </a:xfrm>
          <a:prstGeom prst="roundRect">
            <a:avLst>
              <a:gd name="adj" fmla="val 13000"/>
            </a:avLst>
          </a:prstGeom>
          <a:solidFill>
            <a:srgbClr val="0A0F1E">
              <a:alpha val="94000"/>
            </a:srgbClr>
          </a:solidFill>
          <a:ln w="11430">
            <a:solidFill>
              <a:srgbClr val="60A5F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390888" y="2002536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0A5FA"/>
                </a:solidFill>
              </a:rPr>
              <a:t>-0.22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9345168" y="2514600"/>
            <a:ext cx="151790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A1A1AA"/>
                </a:solidFill>
              </a:rPr>
              <a:t>Sleep hours ↔ addiction level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059168" y="3337560"/>
            <a:ext cx="0" cy="868680"/>
          </a:xfrm>
          <a:prstGeom prst="line">
            <a:avLst/>
          </a:prstGeom>
          <a:noFill/>
          <a:ln w="3302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260336" y="3337560"/>
            <a:ext cx="3959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1A1AA"/>
                </a:solidFill>
              </a:rPr>
              <a:t>Main takeaway: addiction and emotional wellbeing are more closely linked to phone usage than academic outcomes in the teen dataset.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132320" y="4681728"/>
            <a:ext cx="39319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50" dirty="0">
                <a:solidFill>
                  <a:srgbClr val="A1A1AA"/>
                </a:solidFill>
              </a:rPr>
              <a:t>Anxiety and depression move together.</a:t>
            </a:r>
            <a:endParaRPr lang="en-US" sz="1150" dirty="0"/>
          </a:p>
          <a:p>
            <a:r>
              <a:rPr lang="en-US" sz="1150" dirty="0">
                <a:solidFill>
                  <a:srgbClr val="A1A1AA"/>
                </a:solidFill>
              </a:rPr>
              <a:t>More addicted teens tend to sleep less.</a:t>
            </a:r>
            <a:endParaRPr lang="en-US" sz="1150" dirty="0"/>
          </a:p>
          <a:p>
            <a:r>
              <a:rPr lang="en-US" sz="1150" dirty="0">
                <a:solidFill>
                  <a:srgbClr val="A1A1AA"/>
                </a:solidFill>
              </a:rPr>
              <a:t>Grades may depend on other factors beyond screen time.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02920" y="3200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TEEN DATASET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064240" y="265176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1F293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02920" y="6565392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1717A"/>
                </a:solidFill>
              </a:rPr>
              <a:t>Social Media Impact Study 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 w="12700">
            <a:solidFill>
              <a:srgbClr val="0709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5448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19456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83464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39496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3504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67512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95528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59536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23544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87552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51560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15568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79576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82880" y="27432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82880" y="82296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82880" y="137160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82880" y="192024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82880" y="246888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82880" y="301752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82880" y="356616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82880" y="411480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82880" y="466344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82880" y="521208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82880" y="576072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82880" y="630936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82880" y="685800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2920" y="71323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Screen time alone was not the whole story.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502920" y="1408176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A1A1AA"/>
                </a:solidFill>
              </a:rPr>
              <a:t>The teen data suggests social-media impact is more complex than “more hours = worse grades.”</a:t>
            </a:r>
            <a:endParaRPr lang="en-US" sz="1220" dirty="0"/>
          </a:p>
        </p:txBody>
      </p:sp>
      <p:sp>
        <p:nvSpPr>
          <p:cNvPr id="37" name="Shape 35"/>
          <p:cNvSpPr/>
          <p:nvPr/>
        </p:nvSpPr>
        <p:spPr>
          <a:xfrm>
            <a:off x="777240" y="1965960"/>
            <a:ext cx="2194560" cy="1051560"/>
          </a:xfrm>
          <a:prstGeom prst="roundRect">
            <a:avLst>
              <a:gd name="adj" fmla="val 11304"/>
            </a:avLst>
          </a:prstGeom>
          <a:solidFill>
            <a:srgbClr val="0A0F1E">
              <a:alpha val="94000"/>
            </a:srgbClr>
          </a:solidFill>
          <a:ln w="11430">
            <a:solidFill>
              <a:srgbClr val="22D3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78408" y="212140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D3EE"/>
                </a:solidFill>
              </a:rPr>
              <a:t>72–75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932688" y="2633472"/>
            <a:ext cx="1883664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A1A1AA"/>
                </a:solidFill>
              </a:rPr>
              <a:t>average academic score range across usage groups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337560" y="1965960"/>
            <a:ext cx="1828800" cy="1051560"/>
          </a:xfrm>
          <a:prstGeom prst="roundRect">
            <a:avLst>
              <a:gd name="adj" fmla="val 11304"/>
            </a:avLst>
          </a:prstGeom>
          <a:solidFill>
            <a:srgbClr val="0A0F1E">
              <a:alpha val="94000"/>
            </a:srgbClr>
          </a:solidFill>
          <a:ln w="11430">
            <a:solidFill>
              <a:srgbClr val="60A5F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538728" y="2121408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0A5FA"/>
                </a:solidFill>
              </a:rPr>
              <a:t>0.60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3493008" y="2633472"/>
            <a:ext cx="1517904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A1A1AA"/>
                </a:solidFill>
              </a:rPr>
              <a:t>usage ↔ addiction correlation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486400" y="1965960"/>
            <a:ext cx="1920240" cy="1051560"/>
          </a:xfrm>
          <a:prstGeom prst="roundRect">
            <a:avLst>
              <a:gd name="adj" fmla="val 11304"/>
            </a:avLst>
          </a:prstGeom>
          <a:solidFill>
            <a:srgbClr val="0A0F1E">
              <a:alpha val="94000"/>
            </a:srgbClr>
          </a:solidFill>
          <a:ln w="11430">
            <a:solidFill>
              <a:srgbClr val="8B5C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687568" y="2121408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5CF6"/>
                </a:solidFill>
              </a:rPr>
              <a:t>moderate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5641848" y="2633472"/>
            <a:ext cx="1609344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A1A1AA"/>
                </a:solidFill>
              </a:rPr>
              <a:t>anxiety and depression moved together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77240" y="3840480"/>
            <a:ext cx="10561320" cy="1143000"/>
          </a:xfrm>
          <a:prstGeom prst="roundRect">
            <a:avLst>
              <a:gd name="adj" fmla="val 10400"/>
            </a:avLst>
          </a:prstGeom>
          <a:solidFill>
            <a:srgbClr val="0D1016">
              <a:alpha val="96000"/>
            </a:srgbClr>
          </a:solidFill>
          <a:ln w="11430">
            <a:solidFill>
              <a:srgbClr val="243244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024128" y="40782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Interpretation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3246120" y="39959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1A1AA"/>
                </a:solidFill>
              </a:rPr>
              <a:t>For teens, the more important story is not just time spent online. Addiction, sleep, and emotional wellbeing appear more meaningful than daily usage alone.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02920" y="3200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TEEN INSIGHT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1064240" y="265176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1F293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02920" y="6565392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1717A"/>
                </a:solidFill>
              </a:rPr>
              <a:t>Social Media Impact Study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 w="12700">
            <a:solidFill>
              <a:srgbClr val="0709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Among students, the academic impact was clearer.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408176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A1A1AA"/>
                </a:solidFill>
              </a:rPr>
              <a:t>Students who reported academic impact tended to use social media more and show higher addiction scores.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5029200" cy="3337560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 w="11430">
            <a:solidFill>
              <a:srgbClr val="334155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extracted_ppt_images/slide19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17" y="1856232"/>
            <a:ext cx="4739766" cy="2926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4809744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334155"/>
                </a:solidFill>
              </a:rPr>
              <a:t>Daily usage by academic-impact group</a:t>
            </a:r>
            <a:endParaRPr lang="en-US" sz="780" dirty="0"/>
          </a:p>
        </p:txBody>
      </p:sp>
      <p:sp>
        <p:nvSpPr>
          <p:cNvPr id="8" name="Shape 5"/>
          <p:cNvSpPr/>
          <p:nvPr/>
        </p:nvSpPr>
        <p:spPr>
          <a:xfrm>
            <a:off x="6263640" y="1783080"/>
            <a:ext cx="5029200" cy="3337560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 w="11430">
            <a:solidFill>
              <a:srgbClr val="334155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/mnt/data/extracted_ppt_images/slide18_im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357" y="1856232"/>
            <a:ext cx="4739766" cy="2926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46520" y="4809744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334155"/>
                </a:solidFill>
              </a:rPr>
              <a:t>Student addiction-score distribution</a:t>
            </a:r>
            <a:endParaRPr lang="en-US" sz="780" dirty="0"/>
          </a:p>
        </p:txBody>
      </p:sp>
      <p:sp>
        <p:nvSpPr>
          <p:cNvPr id="11" name="Shape 7"/>
          <p:cNvSpPr/>
          <p:nvPr/>
        </p:nvSpPr>
        <p:spPr>
          <a:xfrm>
            <a:off x="914400" y="5532120"/>
            <a:ext cx="0" cy="402336"/>
          </a:xfrm>
          <a:prstGeom prst="line">
            <a:avLst/>
          </a:prstGeom>
          <a:noFill/>
          <a:ln w="3302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1115568" y="5532120"/>
            <a:ext cx="9948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1A1AA"/>
                </a:solidFill>
              </a:rPr>
              <a:t>Students in the “Yes, it affects academics” group had a higher median daily usage and wider spread, including heavy-use outliers.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02920" y="3200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DATASET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1064240" y="265176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1F293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02920" y="6565392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1717A"/>
                </a:solidFill>
              </a:rPr>
              <a:t>Social Media Impact Study 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 w="12700">
            <a:solidFill>
              <a:srgbClr val="0709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5448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19456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83464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39496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3504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67512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95528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59536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23544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87552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51560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15568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79576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82880" y="27432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82880" y="82296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82880" y="137160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82880" y="192024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82880" y="246888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82880" y="301752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82880" y="356616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82880" y="411480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82880" y="466344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82880" y="521208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82880" y="576072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82880" y="630936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82880" y="685800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2920" y="71323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Heavier daily use aligned with reported academic impact.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502920" y="1408176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A1A1AA"/>
                </a:solidFill>
              </a:rPr>
              <a:t>The boxplot shows a clear separation between students who report academic impact and those who do not.</a:t>
            </a:r>
            <a:endParaRPr lang="en-US" sz="1220" dirty="0"/>
          </a:p>
        </p:txBody>
      </p:sp>
      <p:sp>
        <p:nvSpPr>
          <p:cNvPr id="37" name="Shape 35"/>
          <p:cNvSpPr/>
          <p:nvPr/>
        </p:nvSpPr>
        <p:spPr>
          <a:xfrm>
            <a:off x="685800" y="1783080"/>
            <a:ext cx="5943600" cy="3977640"/>
          </a:xfrm>
          <a:prstGeom prst="roundRect">
            <a:avLst>
              <a:gd name="adj" fmla="val 2989"/>
            </a:avLst>
          </a:prstGeom>
          <a:solidFill>
            <a:srgbClr val="FFFFFF"/>
          </a:solidFill>
          <a:ln w="11430">
            <a:solidFill>
              <a:srgbClr val="334155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0" descr="/mnt/data/extracted_ppt_images/slide19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305" y="1856232"/>
            <a:ext cx="5776590" cy="356616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868680" y="5449824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334155"/>
                </a:solidFill>
              </a:rPr>
              <a:t>Daily social-media usage by group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7132320" y="1828800"/>
            <a:ext cx="2057400" cy="960120"/>
          </a:xfrm>
          <a:prstGeom prst="roundRect">
            <a:avLst>
              <a:gd name="adj" fmla="val 12381"/>
            </a:avLst>
          </a:prstGeom>
          <a:solidFill>
            <a:srgbClr val="0A0F1E">
              <a:alpha val="94000"/>
            </a:srgbClr>
          </a:solidFill>
          <a:ln w="11430">
            <a:solidFill>
              <a:srgbClr val="22D3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7333488" y="1984248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D3EE"/>
                </a:solidFill>
              </a:rPr>
              <a:t>~5.5 hrs</a:t>
            </a:r>
            <a:endParaRPr lang="en-US" sz="2400" dirty="0"/>
          </a:p>
        </p:txBody>
      </p:sp>
      <p:sp>
        <p:nvSpPr>
          <p:cNvPr id="42" name="Text 39"/>
          <p:cNvSpPr/>
          <p:nvPr/>
        </p:nvSpPr>
        <p:spPr>
          <a:xfrm>
            <a:off x="7287768" y="2496312"/>
            <a:ext cx="1746504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A1A1AA"/>
                </a:solidFill>
              </a:rPr>
              <a:t>median usage for students reporting academic impact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9372600" y="1828800"/>
            <a:ext cx="1737360" cy="960120"/>
          </a:xfrm>
          <a:prstGeom prst="roundRect">
            <a:avLst>
              <a:gd name="adj" fmla="val 12381"/>
            </a:avLst>
          </a:prstGeom>
          <a:solidFill>
            <a:srgbClr val="0A0F1E">
              <a:alpha val="94000"/>
            </a:srgbClr>
          </a:solidFill>
          <a:ln w="11430">
            <a:solidFill>
              <a:srgbClr val="60A5F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9573768" y="1984248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0A5FA"/>
                </a:solidFill>
              </a:rPr>
              <a:t>~4 hrs</a:t>
            </a:r>
            <a:endParaRPr lang="en-US" sz="2400" dirty="0"/>
          </a:p>
        </p:txBody>
      </p:sp>
      <p:sp>
        <p:nvSpPr>
          <p:cNvPr id="45" name="Text 42"/>
          <p:cNvSpPr/>
          <p:nvPr/>
        </p:nvSpPr>
        <p:spPr>
          <a:xfrm>
            <a:off x="9528048" y="2496312"/>
            <a:ext cx="1426464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A1A1AA"/>
                </a:solidFill>
              </a:rPr>
              <a:t>median usage for students reporting no impact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7242048" y="3657600"/>
            <a:ext cx="352044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00" dirty="0">
                <a:solidFill>
                  <a:srgbClr val="A1A1AA"/>
                </a:solidFill>
              </a:rPr>
              <a:t>The “Yes” group uses social media more daily.</a:t>
            </a:r>
            <a:endParaRPr lang="en-US" sz="1200" dirty="0"/>
          </a:p>
          <a:p>
            <a:r>
              <a:rPr lang="en-US" sz="1200" dirty="0">
                <a:solidFill>
                  <a:srgbClr val="A1A1AA"/>
                </a:solidFill>
              </a:rPr>
              <a:t>The “Yes” group has wider usage variation.</a:t>
            </a:r>
            <a:endParaRPr lang="en-US" sz="1200" dirty="0"/>
          </a:p>
          <a:p>
            <a:r>
              <a:rPr lang="en-US" sz="1200" dirty="0">
                <a:solidFill>
                  <a:srgbClr val="A1A1AA"/>
                </a:solidFill>
              </a:rPr>
              <a:t>Some students report 7–8 hours per day.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502920" y="3200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IMPACT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11064240" y="265176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1F293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502920" y="6565392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1717A"/>
                </a:solidFill>
              </a:rPr>
              <a:t>Social Media Impact Study 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 w="12700">
            <a:solidFill>
              <a:srgbClr val="0709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Addiction intensity was a major signal.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408176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A1A1AA"/>
                </a:solidFill>
              </a:rPr>
              <a:t>Moderate to high addiction scores were common, and higher addiction was strongly tied to poorer outcomes in the student data.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5257800" cy="3657600"/>
          </a:xfrm>
          <a:prstGeom prst="roundRect">
            <a:avLst>
              <a:gd name="adj" fmla="val 3250"/>
            </a:avLst>
          </a:prstGeom>
          <a:solidFill>
            <a:srgbClr val="FFFFFF"/>
          </a:solidFill>
          <a:ln w="11430">
            <a:solidFill>
              <a:srgbClr val="334155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extracted_ppt_images/slide18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947229"/>
            <a:ext cx="5111496" cy="31555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5175504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334155"/>
                </a:solidFill>
              </a:rPr>
              <a:t>Addiction-score distribution</a:t>
            </a:r>
            <a:endParaRPr lang="en-US" sz="780" dirty="0"/>
          </a:p>
        </p:txBody>
      </p:sp>
      <p:sp>
        <p:nvSpPr>
          <p:cNvPr id="8" name="Shape 5"/>
          <p:cNvSpPr/>
          <p:nvPr/>
        </p:nvSpPr>
        <p:spPr>
          <a:xfrm>
            <a:off x="6400800" y="1828800"/>
            <a:ext cx="2011680" cy="1005840"/>
          </a:xfrm>
          <a:prstGeom prst="roundRect">
            <a:avLst>
              <a:gd name="adj" fmla="val 11818"/>
            </a:avLst>
          </a:prstGeom>
          <a:solidFill>
            <a:srgbClr val="0A0F1E">
              <a:alpha val="94000"/>
            </a:srgbClr>
          </a:solidFill>
          <a:ln w="11430">
            <a:solidFill>
              <a:srgbClr val="22D3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01968" y="1984248"/>
            <a:ext cx="1609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D3EE"/>
                </a:solidFill>
              </a:rPr>
              <a:t>7.4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556248" y="2496312"/>
            <a:ext cx="170078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A1A1AA"/>
                </a:solidFill>
              </a:rPr>
              <a:t>average addiction score for students reporting academic impact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686800" y="1828800"/>
            <a:ext cx="2011680" cy="1005840"/>
          </a:xfrm>
          <a:prstGeom prst="roundRect">
            <a:avLst>
              <a:gd name="adj" fmla="val 11818"/>
            </a:avLst>
          </a:prstGeom>
          <a:solidFill>
            <a:srgbClr val="0A0F1E">
              <a:alpha val="94000"/>
            </a:srgbClr>
          </a:solidFill>
          <a:ln w="11430">
            <a:solidFill>
              <a:srgbClr val="60A5F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887968" y="1984248"/>
            <a:ext cx="1609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0A5FA"/>
                </a:solidFill>
              </a:rPr>
              <a:t>4.5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842248" y="2496312"/>
            <a:ext cx="170078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A1A1AA"/>
                </a:solidFill>
              </a:rPr>
              <a:t>average addiction score for students reporting no impact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498080" y="3246120"/>
            <a:ext cx="2286000" cy="1005840"/>
          </a:xfrm>
          <a:prstGeom prst="roundRect">
            <a:avLst>
              <a:gd name="adj" fmla="val 11818"/>
            </a:avLst>
          </a:prstGeom>
          <a:solidFill>
            <a:srgbClr val="0A0F1E">
              <a:alpha val="94000"/>
            </a:srgbClr>
          </a:solidFill>
          <a:ln w="11430">
            <a:solidFill>
              <a:srgbClr val="8B5C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699248" y="340156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5CF6"/>
                </a:solidFill>
              </a:rPr>
              <a:t>-0.95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7653528" y="3913632"/>
            <a:ext cx="197510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A1A1AA"/>
                </a:solidFill>
              </a:rPr>
              <a:t>addiction score ↔ mental health score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446520" y="4846320"/>
            <a:ext cx="0" cy="502920"/>
          </a:xfrm>
          <a:prstGeom prst="line">
            <a:avLst/>
          </a:prstGeom>
          <a:noFill/>
          <a:ln w="3302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647688" y="4846320"/>
            <a:ext cx="4096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1A1AA"/>
                </a:solidFill>
              </a:rPr>
              <a:t>The strongest student finding: addiction level appears more explanatory than daily use alone.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02920" y="3200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ADDICTION SIGNAL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11064240" y="265176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1F293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02920" y="6565392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1717A"/>
                </a:solidFill>
              </a:rPr>
              <a:t>Social Media Impact Study </a:t>
            </a:r>
            <a:endParaRPr lang="en-US" sz="6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 w="12700">
            <a:solidFill>
              <a:srgbClr val="0709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5448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19456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83464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39496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3504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67512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95528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59536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23544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87552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51560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15568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79576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82880" y="27432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82880" y="82296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82880" y="137160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82880" y="192024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82880" y="246888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82880" y="301752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82880" y="356616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82880" y="411480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82880" y="466344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82880" y="521208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82880" y="576072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82880" y="630936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82880" y="685800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2920" y="71323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Teens and students showed different patterns.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502920" y="1408176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A1A1AA"/>
                </a:solidFill>
              </a:rPr>
              <a:t>The analysis suggests that age/context changes how social-media behavior appears in the data.</a:t>
            </a:r>
            <a:endParaRPr lang="en-US" sz="1220" dirty="0"/>
          </a:p>
        </p:txBody>
      </p:sp>
      <p:sp>
        <p:nvSpPr>
          <p:cNvPr id="37" name="Shape 35"/>
          <p:cNvSpPr/>
          <p:nvPr/>
        </p:nvSpPr>
        <p:spPr>
          <a:xfrm>
            <a:off x="868680" y="1828800"/>
            <a:ext cx="4754880" cy="3108960"/>
          </a:xfrm>
          <a:prstGeom prst="roundRect">
            <a:avLst>
              <a:gd name="adj" fmla="val 3824"/>
            </a:avLst>
          </a:prstGeom>
          <a:solidFill>
            <a:srgbClr val="0D1016">
              <a:alpha val="98000"/>
            </a:srgbClr>
          </a:solidFill>
          <a:ln w="11430">
            <a:solidFill>
              <a:srgbClr val="22D3E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537960" y="1828800"/>
            <a:ext cx="4754880" cy="3108960"/>
          </a:xfrm>
          <a:prstGeom prst="roundRect">
            <a:avLst>
              <a:gd name="adj" fmla="val 3824"/>
            </a:avLst>
          </a:prstGeom>
          <a:solidFill>
            <a:srgbClr val="0D1016">
              <a:alpha val="98000"/>
            </a:srgbClr>
          </a:solidFill>
          <a:ln w="11430">
            <a:solidFill>
              <a:srgbClr val="8B5C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143000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Teens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6812280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Students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1143000" y="2834640"/>
            <a:ext cx="39776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A1A1AA"/>
                </a:solidFill>
              </a:rPr>
              <a:t>Academic scores stayed in a narrow range.</a:t>
            </a:r>
            <a:endParaRPr lang="en-US" sz="1300" dirty="0"/>
          </a:p>
          <a:p>
            <a:r>
              <a:rPr lang="en-US" sz="1300" dirty="0">
                <a:solidFill>
                  <a:srgbClr val="A1A1AA"/>
                </a:solidFill>
              </a:rPr>
              <a:t>Usage linked to addiction and emotional wellbeing.</a:t>
            </a:r>
            <a:endParaRPr lang="en-US" sz="1300" dirty="0"/>
          </a:p>
          <a:p>
            <a:r>
              <a:rPr lang="en-US" sz="1300" dirty="0">
                <a:solidFill>
                  <a:srgbClr val="A1A1AA"/>
                </a:solidFill>
              </a:rPr>
              <a:t>Screen time alone did not strongly explain grades.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812280" y="2834640"/>
            <a:ext cx="39776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A1A1AA"/>
                </a:solidFill>
              </a:rPr>
              <a:t>Academic impact split into clearer groups.</a:t>
            </a:r>
            <a:endParaRPr lang="en-US" sz="1300" dirty="0"/>
          </a:p>
          <a:p>
            <a:r>
              <a:rPr lang="en-US" sz="1300" dirty="0">
                <a:solidFill>
                  <a:srgbClr val="A1A1AA"/>
                </a:solidFill>
              </a:rPr>
              <a:t>Higher addiction was linked to worse outcomes.</a:t>
            </a:r>
            <a:endParaRPr lang="en-US" sz="1300" dirty="0"/>
          </a:p>
          <a:p>
            <a:r>
              <a:rPr lang="en-US" sz="1300" dirty="0">
                <a:solidFill>
                  <a:srgbClr val="A1A1AA"/>
                </a:solidFill>
              </a:rPr>
              <a:t>Heavy use tied to sleep and mental health patterns.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02920" y="3200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1064240" y="265176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1F293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02920" y="6565392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1717A"/>
                </a:solidFill>
              </a:rPr>
              <a:t>Social Media Impact Study </a:t>
            </a:r>
            <a:endParaRPr lang="en-US" sz="6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 w="12700">
            <a:solidFill>
              <a:srgbClr val="0709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simple model confirmed the EDA pattern.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408176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A1A1AA"/>
                </a:solidFill>
              </a:rPr>
              <a:t>Logistic regression predicted academic impact from behavioral and wellbeing variables.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10607040" cy="2011680"/>
          </a:xfrm>
          <a:prstGeom prst="roundRect">
            <a:avLst>
              <a:gd name="adj" fmla="val 5909"/>
            </a:avLst>
          </a:prstGeom>
          <a:solidFill>
            <a:srgbClr val="0D1016">
              <a:alpha val="98000"/>
            </a:srgbClr>
          </a:solidFill>
          <a:ln w="11430">
            <a:solidFill>
              <a:srgbClr val="243244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3000" y="2587752"/>
            <a:ext cx="1234440" cy="621792"/>
          </a:xfrm>
          <a:prstGeom prst="roundRect">
            <a:avLst>
              <a:gd name="adj" fmla="val 11765"/>
            </a:avLst>
          </a:prstGeom>
          <a:solidFill>
            <a:srgbClr val="111827">
              <a:alpha val="95000"/>
            </a:srgbClr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34440" y="268833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Usage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50592" y="2898648"/>
            <a:ext cx="484632" cy="0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063240" y="2587752"/>
            <a:ext cx="1234440" cy="621792"/>
          </a:xfrm>
          <a:prstGeom prst="roundRect">
            <a:avLst>
              <a:gd name="adj" fmla="val 11765"/>
            </a:avLst>
          </a:prstGeom>
          <a:solidFill>
            <a:srgbClr val="111827">
              <a:alpha val="95000"/>
            </a:srgbClr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54680" y="268833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Sleep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70832" y="2898648"/>
            <a:ext cx="484632" cy="0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983480" y="2587752"/>
            <a:ext cx="1234440" cy="621792"/>
          </a:xfrm>
          <a:prstGeom prst="roundRect">
            <a:avLst>
              <a:gd name="adj" fmla="val 11765"/>
            </a:avLst>
          </a:prstGeom>
          <a:solidFill>
            <a:srgbClr val="111827">
              <a:alpha val="95000"/>
            </a:srgbClr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74920" y="268833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Mental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Health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91072" y="2898648"/>
            <a:ext cx="484632" cy="0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903720" y="2587752"/>
            <a:ext cx="1234440" cy="621792"/>
          </a:xfrm>
          <a:prstGeom prst="roundRect">
            <a:avLst>
              <a:gd name="adj" fmla="val 11765"/>
            </a:avLst>
          </a:prstGeom>
          <a:solidFill>
            <a:srgbClr val="111827">
              <a:alpha val="95000"/>
            </a:srgbClr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995160" y="268833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Addiction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211312" y="2898648"/>
            <a:ext cx="484632" cy="0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823960" y="2587752"/>
            <a:ext cx="1234440" cy="621792"/>
          </a:xfrm>
          <a:prstGeom prst="roundRect">
            <a:avLst>
              <a:gd name="adj" fmla="val 11765"/>
            </a:avLst>
          </a:prstGeom>
          <a:solidFill>
            <a:srgbClr val="22D3EE"/>
          </a:solidFill>
          <a:ln w="12700">
            <a:solidFill>
              <a:srgbClr val="22D3E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915400" y="268833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090D"/>
                </a:solidFill>
              </a:rPr>
              <a:t>Academic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7090D"/>
                </a:solidFill>
              </a:rPr>
              <a:t>Impact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143000" y="4663440"/>
            <a:ext cx="1828800" cy="960120"/>
          </a:xfrm>
          <a:prstGeom prst="roundRect">
            <a:avLst>
              <a:gd name="adj" fmla="val 12381"/>
            </a:avLst>
          </a:prstGeom>
          <a:solidFill>
            <a:srgbClr val="0A0F1E">
              <a:alpha val="94000"/>
            </a:srgbClr>
          </a:solidFill>
          <a:ln w="11430">
            <a:solidFill>
              <a:srgbClr val="22D3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344168" y="4818888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D3EE"/>
                </a:solidFill>
              </a:rPr>
              <a:t>100%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98448" y="5330952"/>
            <a:ext cx="1517904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A1A1AA"/>
                </a:solidFill>
              </a:rPr>
              <a:t>reported model accuracy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29000" y="4773168"/>
            <a:ext cx="0" cy="502920"/>
          </a:xfrm>
          <a:prstGeom prst="line">
            <a:avLst/>
          </a:prstGeom>
          <a:noFill/>
          <a:ln w="3302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30168" y="4773168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1A1AA"/>
                </a:solidFill>
              </a:rPr>
              <a:t>Note: 100% accuracy is very high, so it should be explained carefully as a sign of strong patterns in this dataset, not automatic real-world perfection.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" y="3200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064240" y="265176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1F293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6565392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1717A"/>
                </a:solidFill>
              </a:rPr>
              <a:t>Social Media Impact Study </a:t>
            </a:r>
            <a:endParaRPr lang="en-US" sz="6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 w="12700">
            <a:solidFill>
              <a:srgbClr val="0709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5448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19456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83464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39496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3504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67512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95528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59536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23544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87552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51560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15568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795760" y="182880"/>
            <a:ext cx="0" cy="6492240"/>
          </a:xfrm>
          <a:prstGeom prst="line">
            <a:avLst/>
          </a:prstGeom>
          <a:noFill/>
          <a:ln w="3175">
            <a:solidFill>
              <a:srgbClr val="1E293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82880" y="27432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82880" y="82296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82880" y="137160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82880" y="192024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82880" y="246888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82880" y="301752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82880" y="356616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82880" y="411480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82880" y="466344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82880" y="521208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82880" y="576072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82880" y="630936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82880" y="6858000"/>
            <a:ext cx="11825935" cy="0"/>
          </a:xfrm>
          <a:prstGeom prst="line">
            <a:avLst/>
          </a:prstGeom>
          <a:noFill/>
          <a:ln w="3175">
            <a:solidFill>
              <a:srgbClr val="1E293B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2920" y="71323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takeaways.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502920" y="1408176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A1A1AA"/>
                </a:solidFill>
              </a:rPr>
              <a:t>The strongest findings were about addiction, academic impact, sleep, and mental health — not just raw screen time.</a:t>
            </a:r>
            <a:endParaRPr lang="en-US" sz="1220" dirty="0"/>
          </a:p>
        </p:txBody>
      </p:sp>
      <p:sp>
        <p:nvSpPr>
          <p:cNvPr id="37" name="Shape 35"/>
          <p:cNvSpPr/>
          <p:nvPr/>
        </p:nvSpPr>
        <p:spPr>
          <a:xfrm>
            <a:off x="777240" y="2057400"/>
            <a:ext cx="5029200" cy="1097280"/>
          </a:xfrm>
          <a:prstGeom prst="roundRect">
            <a:avLst>
              <a:gd name="adj" fmla="val 10833"/>
            </a:avLst>
          </a:prstGeom>
          <a:solidFill>
            <a:srgbClr val="0D1016">
              <a:alpha val="97000"/>
            </a:srgbClr>
          </a:solidFill>
          <a:ln w="11430">
            <a:solidFill>
              <a:srgbClr val="22D3E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005840" y="2267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Heavy use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2514600" y="224028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1A1AA"/>
                </a:solidFill>
              </a:rPr>
              <a:t>Students with heavier daily use were more likely to report academic impact.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77240" y="3794760"/>
            <a:ext cx="5029200" cy="1097280"/>
          </a:xfrm>
          <a:prstGeom prst="roundRect">
            <a:avLst>
              <a:gd name="adj" fmla="val 10833"/>
            </a:avLst>
          </a:prstGeom>
          <a:solidFill>
            <a:srgbClr val="0D1016">
              <a:alpha val="97000"/>
            </a:srgbClr>
          </a:solidFill>
          <a:ln w="11430">
            <a:solidFill>
              <a:srgbClr val="60A5F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05840" y="4005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Addiction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2514600" y="397764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1A1AA"/>
                </a:solidFill>
              </a:rPr>
              <a:t>Higher addiction scores were tied to poorer academic and mental-health outcomes.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263640" y="2057400"/>
            <a:ext cx="5029200" cy="1097280"/>
          </a:xfrm>
          <a:prstGeom prst="roundRect">
            <a:avLst>
              <a:gd name="adj" fmla="val 10833"/>
            </a:avLst>
          </a:prstGeom>
          <a:solidFill>
            <a:srgbClr val="0D1016">
              <a:alpha val="97000"/>
            </a:srgbClr>
          </a:solidFill>
          <a:ln w="11430">
            <a:solidFill>
              <a:srgbClr val="8B5C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92240" y="2267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Teens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001000" y="224028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1A1AA"/>
                </a:solidFill>
              </a:rPr>
              <a:t>Teen grades did not shift much by usage group, suggesting more complex causes.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263640" y="3794760"/>
            <a:ext cx="5029200" cy="1097280"/>
          </a:xfrm>
          <a:prstGeom prst="roundRect">
            <a:avLst>
              <a:gd name="adj" fmla="val 10833"/>
            </a:avLst>
          </a:prstGeom>
          <a:solidFill>
            <a:srgbClr val="0D1016">
              <a:alpha val="97000"/>
            </a:srgbClr>
          </a:solidFill>
          <a:ln w="11430">
            <a:solidFill>
              <a:srgbClr val="34D39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492240" y="4005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Awareness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001000" y="397764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1A1AA"/>
                </a:solidFill>
              </a:rPr>
              <a:t>Moderation and awareness are important, especially for high-addiction patterns.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02920" y="3200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1064240" y="265176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1F293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02920" y="6565392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1717A"/>
                </a:solidFill>
              </a:rPr>
              <a:t>Social Media Impact Study </a:t>
            </a:r>
            <a:endParaRPr lang="en-US" sz="6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 w="12700">
            <a:solidFill>
              <a:srgbClr val="0709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Ready for the portfolio.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408176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A1A1AA"/>
                </a:solidFill>
              </a:rPr>
              <a:t>A cleaner project story that can be shown on a personal website, résumé, or internship application.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5029200" cy="3429000"/>
          </a:xfrm>
          <a:prstGeom prst="roundRect">
            <a:avLst>
              <a:gd name="adj" fmla="val 3467"/>
            </a:avLst>
          </a:prstGeom>
          <a:solidFill>
            <a:srgbClr val="0D1016">
              <a:alpha val="98000"/>
            </a:srgbClr>
          </a:solidFill>
          <a:ln w="11430">
            <a:solidFill>
              <a:srgbClr val="22D3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1560" y="2267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</a:rPr>
              <a:t>Project card copy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269748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Social Media Impact Study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51560" y="3337560"/>
            <a:ext cx="4251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1A1AA"/>
                </a:solidFill>
              </a:rPr>
              <a:t>Analyzed social media usage, mental health, addiction, and academic performance using EDA, heatmaps, boxplots, and logistic regression.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51560" y="4480560"/>
            <a:ext cx="1143000" cy="292608"/>
          </a:xfrm>
          <a:prstGeom prst="roundRect">
            <a:avLst>
              <a:gd name="adj" fmla="val 31250"/>
            </a:avLst>
          </a:prstGeom>
          <a:solidFill>
            <a:srgbClr val="22D3EE">
              <a:alpha val="13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4535424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22D3EE"/>
                </a:solidFill>
              </a:rPr>
              <a:t>Python</a:t>
            </a:r>
            <a:endParaRPr lang="en-US" sz="670" dirty="0"/>
          </a:p>
        </p:txBody>
      </p:sp>
      <p:sp>
        <p:nvSpPr>
          <p:cNvPr id="11" name="Shape 9"/>
          <p:cNvSpPr/>
          <p:nvPr/>
        </p:nvSpPr>
        <p:spPr>
          <a:xfrm>
            <a:off x="2377440" y="4480560"/>
            <a:ext cx="1143000" cy="292608"/>
          </a:xfrm>
          <a:prstGeom prst="roundRect">
            <a:avLst>
              <a:gd name="adj" fmla="val 31250"/>
            </a:avLst>
          </a:prstGeom>
          <a:solidFill>
            <a:srgbClr val="22D3EE">
              <a:alpha val="13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377440" y="4535424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22D3EE"/>
                </a:solidFill>
              </a:rPr>
              <a:t>Pandas</a:t>
            </a:r>
            <a:endParaRPr lang="en-US" sz="670" dirty="0"/>
          </a:p>
        </p:txBody>
      </p:sp>
      <p:sp>
        <p:nvSpPr>
          <p:cNvPr id="13" name="Shape 11"/>
          <p:cNvSpPr/>
          <p:nvPr/>
        </p:nvSpPr>
        <p:spPr>
          <a:xfrm>
            <a:off x="3703320" y="4480560"/>
            <a:ext cx="1143000" cy="292608"/>
          </a:xfrm>
          <a:prstGeom prst="roundRect">
            <a:avLst>
              <a:gd name="adj" fmla="val 31250"/>
            </a:avLst>
          </a:prstGeom>
          <a:solidFill>
            <a:srgbClr val="60A5FA">
              <a:alpha val="13000"/>
            </a:srgbClr>
          </a:solidFill>
          <a:ln w="12700">
            <a:solidFill>
              <a:srgbClr val="60A5F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03320" y="4535424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60A5FA"/>
                </a:solidFill>
              </a:rPr>
              <a:t>EDA</a:t>
            </a:r>
            <a:endParaRPr lang="en-US" sz="670" dirty="0"/>
          </a:p>
        </p:txBody>
      </p:sp>
      <p:sp>
        <p:nvSpPr>
          <p:cNvPr id="15" name="Shape 13"/>
          <p:cNvSpPr/>
          <p:nvPr/>
        </p:nvSpPr>
        <p:spPr>
          <a:xfrm>
            <a:off x="1051560" y="4864608"/>
            <a:ext cx="1143000" cy="292608"/>
          </a:xfrm>
          <a:prstGeom prst="roundRect">
            <a:avLst>
              <a:gd name="adj" fmla="val 31250"/>
            </a:avLst>
          </a:prstGeom>
          <a:solidFill>
            <a:srgbClr val="60A5FA">
              <a:alpha val="13000"/>
            </a:srgbClr>
          </a:solidFill>
          <a:ln w="12700">
            <a:solidFill>
              <a:srgbClr val="60A5F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51560" y="491947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60A5FA"/>
                </a:solidFill>
              </a:rPr>
              <a:t>Visualization</a:t>
            </a:r>
            <a:endParaRPr lang="en-US" sz="670" dirty="0"/>
          </a:p>
        </p:txBody>
      </p:sp>
      <p:sp>
        <p:nvSpPr>
          <p:cNvPr id="17" name="Shape 15"/>
          <p:cNvSpPr/>
          <p:nvPr/>
        </p:nvSpPr>
        <p:spPr>
          <a:xfrm>
            <a:off x="2377440" y="4864608"/>
            <a:ext cx="1143000" cy="292608"/>
          </a:xfrm>
          <a:prstGeom prst="roundRect">
            <a:avLst>
              <a:gd name="adj" fmla="val 31250"/>
            </a:avLst>
          </a:prstGeom>
          <a:solidFill>
            <a:srgbClr val="60A5FA">
              <a:alpha val="13000"/>
            </a:srgbClr>
          </a:solidFill>
          <a:ln w="12700">
            <a:solidFill>
              <a:srgbClr val="60A5F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377440" y="491947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60A5FA"/>
                </a:solidFill>
              </a:rPr>
              <a:t>Logistic Regression</a:t>
            </a:r>
            <a:endParaRPr lang="en-US" sz="670" dirty="0"/>
          </a:p>
        </p:txBody>
      </p:sp>
      <p:sp>
        <p:nvSpPr>
          <p:cNvPr id="19" name="Shape 17"/>
          <p:cNvSpPr/>
          <p:nvPr/>
        </p:nvSpPr>
        <p:spPr>
          <a:xfrm>
            <a:off x="6537960" y="1965960"/>
            <a:ext cx="4754880" cy="3429000"/>
          </a:xfrm>
          <a:prstGeom prst="roundRect">
            <a:avLst>
              <a:gd name="adj" fmla="val 3467"/>
            </a:avLst>
          </a:prstGeom>
          <a:solidFill>
            <a:srgbClr val="0D1016">
              <a:alpha val="98000"/>
            </a:srgbClr>
          </a:solidFill>
          <a:ln w="11430">
            <a:solidFill>
              <a:srgbClr val="8B5C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12280" y="2267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</a:rPr>
              <a:t>What this project shows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03720" y="2788920"/>
            <a:ext cx="379476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40" dirty="0">
                <a:solidFill>
                  <a:srgbClr val="A1A1AA"/>
                </a:solidFill>
              </a:rPr>
              <a:t>Data cleaning and exploratory analysis</a:t>
            </a:r>
            <a:endParaRPr lang="en-US" sz="1240" dirty="0"/>
          </a:p>
          <a:p>
            <a:r>
              <a:rPr lang="en-US" sz="1240" dirty="0">
                <a:solidFill>
                  <a:srgbClr val="A1A1AA"/>
                </a:solidFill>
              </a:rPr>
              <a:t>Correlation interpretation and careful wording</a:t>
            </a:r>
            <a:endParaRPr lang="en-US" sz="1240" dirty="0"/>
          </a:p>
          <a:p>
            <a:r>
              <a:rPr lang="en-US" sz="1240" dirty="0">
                <a:solidFill>
                  <a:srgbClr val="A1A1AA"/>
                </a:solidFill>
              </a:rPr>
              <a:t>Clear visualization of student behavior patterns</a:t>
            </a:r>
            <a:endParaRPr lang="en-US" sz="1240" dirty="0"/>
          </a:p>
          <a:p>
            <a:r>
              <a:rPr lang="en-US" sz="1240" dirty="0">
                <a:solidFill>
                  <a:srgbClr val="A1A1AA"/>
                </a:solidFill>
              </a:rPr>
              <a:t>Basic machine-learning classification workflow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502920" y="3200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 USE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064240" y="265176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1F293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6565392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1717A"/>
                </a:solidFill>
              </a:rPr>
              <a:t>Social Media Impact Study 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1179</Words>
  <Application>Microsoft Office PowerPoint</Application>
  <PresentationFormat>Widescreen</PresentationFormat>
  <Paragraphs>209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Duquesne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Media Impact Study — Portfolio Edition</dc:title>
  <dc:subject>Social Media Impact Study</dc:subject>
  <dc:creator>El Mehdi Bensouda</dc:creator>
  <cp:lastModifiedBy>El Mehdi Bensouda</cp:lastModifiedBy>
  <cp:revision>2</cp:revision>
  <dcterms:created xsi:type="dcterms:W3CDTF">2026-10-04T17:47:57Z</dcterms:created>
  <dcterms:modified xsi:type="dcterms:W3CDTF">2026-10-04T19:49:27Z</dcterms:modified>
</cp:coreProperties>
</file>